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2B2D7D-6B64-9B0B-4E2C-B85B414BDCFB}" v="75" dt="2026-04-07T04:13:19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4B9295-18AB-4B53-A155-F05E1671C60B}" type="datetimeFigureOut">
              <a:t>2026/4/6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088AC6-1BCC-400E-81B9-602D7EFCEB13}" type="slidenum"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3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Assignment 1 MVP definition and project framing: user-uploaded file Ce_Chen_SENG8100_Assignment1 (2).pdf, pages 2-4.
- Regime chart generated from local analysis of dataset.csv in this submission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Problem statement and MVP focus adapted from Ce_Chen_SENG8100_Assignment1 (2).pdf, pages 2 and 4.
- Workflow aligned with Sprint 1 planning and selected backlog items in Sprint1_Planning_Agenda_RegimeLens (1).pdf, pages 1-2.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File list and local execution behavior are based on artifacts generated for this submission.
- MVP boundaries are consistent with the earlier product vision in Ce_Chen_SENG8100_Assignment1 (2).pdf.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Dataset URL: https://raw.githubusercontent.com/plotly/datasets/master/finance-charts-apple.csv
- Feature engineering implemented in the submitted notebook RegimeLens_MVP.ipynb.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Technical method described from the submitted notebook RegimeLens_MVP.ipynb and exported results.
- Earlier sprint scope for indicators and clustering is also reflected in SENG8100_Assignment2_CeChen (1).pdf and Sprint1_Planning_Agenda_RegimeLens (1).pdf.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Chart generated from outputs/regime_chart.png produced by the submitted notebook and regime_results.csv.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Summary based on regime_summary.csv and outputs/regime_counts.png from this submission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D4EBA-E953-9154-139A-399D93312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BD3F34-5596-D4BF-9917-EC5FBDD8D8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FB8966-0EBD-5FBC-D755-B8DB6080E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Assignment 1 MVP definition and project framing: user-uploaded file Ce_Chen_SENG8100_Assignment1 (2).pdf, pages 2-4.
- Regime chart generated from local analysis of dataset.csv in this submission package.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B421F1-A320-D921-4815-D6C5D12B74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705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7A4F"/>
          </a:solidFill>
          <a:ln w="12700">
            <a:solidFill>
              <a:srgbClr val="1F7A4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F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RegimeLens MVP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SENG8100 Final Presentation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960120"/>
            <a:ext cx="10972800" cy="5074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BE5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960120"/>
            <a:ext cx="237744" cy="5074920"/>
          </a:xfrm>
          <a:prstGeom prst="rect">
            <a:avLst/>
          </a:prstGeom>
          <a:solidFill>
            <a:srgbClr val="1F7A4F"/>
          </a:solidFill>
          <a:ln w="12700">
            <a:solidFill>
              <a:srgbClr val="1F7A4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3258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RegimeLens MVP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51560" y="19202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C49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explainable AI prototype for single-asset market regime detection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51560" y="2697480"/>
            <a:ext cx="1371600" cy="310896"/>
          </a:xfrm>
          <a:prstGeom prst="rect">
            <a:avLst/>
          </a:prstGeom>
          <a:solidFill>
            <a:srgbClr val="E7F3EC"/>
          </a:solidFill>
          <a:ln>
            <a:solidFill>
              <a:srgbClr val="E7F3EC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7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+ Indicators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42032" y="2697480"/>
            <a:ext cx="1280160" cy="310896"/>
          </a:xfrm>
          <a:prstGeom prst="rect">
            <a:avLst/>
          </a:prstGeom>
          <a:solidFill>
            <a:srgbClr val="E7F3EC"/>
          </a:solidFill>
          <a:ln>
            <a:solidFill>
              <a:srgbClr val="E7F3EC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7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KMeans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41064" y="2697480"/>
            <a:ext cx="1325880" cy="310896"/>
          </a:xfrm>
          <a:prstGeom prst="rect">
            <a:avLst/>
          </a:prstGeom>
          <a:solidFill>
            <a:srgbClr val="E7F3EC"/>
          </a:solidFill>
          <a:ln>
            <a:solidFill>
              <a:srgbClr val="E7F3EC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7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" y="3246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542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submission package includes the notebook, dataset, exported results, presentation, and project README.</a:t>
            </a:r>
            <a:endParaRPr lang="en-US" sz="1500" dirty="0"/>
          </a:p>
        </p:txBody>
      </p:sp>
      <p:pic>
        <p:nvPicPr>
          <p:cNvPr id="10" name="Image 0" descr="/mnt/data/RegimeLens_MVP_Final/outputs/regime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61327"/>
            <a:ext cx="4572000" cy="226102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5349240"/>
            <a:ext cx="3542562" cy="24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55625C"/>
                </a:solidFill>
                <a:ea typeface="+mn-lt"/>
                <a:cs typeface="+mn-lt"/>
              </a:rPr>
              <a:t>Scrum Team 2</a:t>
            </a:r>
            <a:r>
              <a:rPr lang="en-US" sz="1200">
                <a:solidFill>
                  <a:srgbClr val="55625C"/>
                </a:solidFill>
              </a:rPr>
              <a:t>: Ce Che</a:t>
            </a:r>
            <a:r>
              <a:rPr lang="en-US" sz="1200">
                <a:solidFill>
                  <a:srgbClr val="55625C"/>
                </a:solidFill>
                <a:ea typeface="+mn-lt"/>
                <a:cs typeface="+mn-lt"/>
              </a:rPr>
              <a:t>n, Abdallah Mohamed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and MVP goal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5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concept to a demo-ready prototype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73152" cy="1965960"/>
          </a:xfrm>
          <a:prstGeom prst="rect">
            <a:avLst/>
          </a:prstGeom>
          <a:solidFill>
            <a:srgbClr val="1F7A4F"/>
          </a:solidFill>
          <a:ln w="12700">
            <a:solidFill>
              <a:srgbClr val="1F7A4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362456"/>
            <a:ext cx="3264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51F"/>
                </a:solidFill>
              </a:rPr>
              <a:t>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1645920"/>
            <a:ext cx="324612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5423E"/>
                </a:solidFill>
              </a:rPr>
              <a:t>Financial markets do not stay in one stable condition. A simple price chart rarely explains whether the asset is trending, weak, or entering a volatile transition.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2344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234440"/>
            <a:ext cx="73152" cy="1965960"/>
          </a:xfrm>
          <a:prstGeom prst="rect">
            <a:avLst/>
          </a:prstGeom>
          <a:solidFill>
            <a:srgbClr val="2F8C5B"/>
          </a:solidFill>
          <a:ln w="12700">
            <a:solidFill>
              <a:srgbClr val="2F8C5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1362456"/>
            <a:ext cx="3264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51F"/>
                </a:solidFill>
              </a:rPr>
              <a:t>Product idea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07992" y="1645920"/>
            <a:ext cx="324612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5423E"/>
                </a:solidFill>
              </a:rPr>
              <a:t>RegimeLens focuses on explainability. Instead of predicting price direction, it identifies market states from historical data and shows them directly on the chart.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2344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234440"/>
            <a:ext cx="73152" cy="1965960"/>
          </a:xfrm>
          <a:prstGeom prst="rect">
            <a:avLst/>
          </a:prstGeom>
          <a:solidFill>
            <a:srgbClr val="E38C13"/>
          </a:solidFill>
          <a:ln w="12700">
            <a:solidFill>
              <a:srgbClr val="E38C1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1312" y="1362456"/>
            <a:ext cx="3264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51F"/>
                </a:solidFill>
              </a:rPr>
              <a:t>MVP target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11312" y="1645920"/>
            <a:ext cx="324612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5423E"/>
                </a:solidFill>
              </a:rPr>
              <a:t>One user can analyze one asset, generate features, detect regimes, and export the results in a format ready for presentation or review.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3657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51F"/>
                </a:solidFill>
              </a:rPr>
              <a:t>Core demo flow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13232" y="416052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" y="4334256"/>
            <a:ext cx="310896" cy="310896"/>
          </a:xfrm>
          <a:prstGeom prst="ellipse">
            <a:avLst/>
          </a:prstGeom>
          <a:solidFill>
            <a:srgbClr val="1F7A4F"/>
          </a:solidFill>
          <a:ln w="12700">
            <a:solidFill>
              <a:srgbClr val="1F7A4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" y="438454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43584" y="43159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312C"/>
                </a:solidFill>
              </a:rPr>
              <a:t>Load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4312C"/>
                </a:solidFill>
              </a:rPr>
              <a:t>AAPL dataset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06624" y="449884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A877F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2953512" y="416052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72384" y="4334256"/>
            <a:ext cx="310896" cy="310896"/>
          </a:xfrm>
          <a:prstGeom prst="ellipse">
            <a:avLst/>
          </a:prstGeom>
          <a:solidFill>
            <a:srgbClr val="1F7A4F"/>
          </a:solidFill>
          <a:ln w="12700">
            <a:solidFill>
              <a:srgbClr val="1F7A4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72384" y="438454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83864" y="43159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312C"/>
                </a:solidFill>
              </a:rPr>
              <a:t>Compute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4312C"/>
                </a:solidFill>
              </a:rPr>
              <a:t>technical indicators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46904" y="449884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A877F"/>
                </a:solidFill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193792" y="416052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12664" y="4334256"/>
            <a:ext cx="310896" cy="310896"/>
          </a:xfrm>
          <a:prstGeom prst="ellipse">
            <a:avLst/>
          </a:prstGeom>
          <a:solidFill>
            <a:srgbClr val="1F7A4F"/>
          </a:solidFill>
          <a:ln w="12700">
            <a:solidFill>
              <a:srgbClr val="1F7A4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12664" y="438454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24144" y="43159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312C"/>
                </a:solidFill>
              </a:rPr>
              <a:t>Cluster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4312C"/>
                </a:solidFill>
              </a:rPr>
              <a:t>3 regimes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87184" y="449884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A877F"/>
                </a:solidFill>
              </a:rPr>
              <a:t>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434072" y="416052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52944" y="4334256"/>
            <a:ext cx="310896" cy="310896"/>
          </a:xfrm>
          <a:prstGeom prst="ellipse">
            <a:avLst/>
          </a:prstGeom>
          <a:solidFill>
            <a:srgbClr val="1F7A4F"/>
          </a:solidFill>
          <a:ln w="12700">
            <a:solidFill>
              <a:srgbClr val="1F7A4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52944" y="438454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964424" y="43159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312C"/>
                </a:solidFill>
              </a:rPr>
              <a:t>Name and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4312C"/>
                </a:solidFill>
              </a:rPr>
              <a:t>explain regimes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427464" y="449884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A877F"/>
                </a:solidFill>
              </a:rPr>
              <a:t>→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9674352" y="416052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793224" y="4334256"/>
            <a:ext cx="310896" cy="310896"/>
          </a:xfrm>
          <a:prstGeom prst="ellipse">
            <a:avLst/>
          </a:prstGeom>
          <a:solidFill>
            <a:srgbClr val="1F7A4F"/>
          </a:solidFill>
          <a:ln w="12700">
            <a:solidFill>
              <a:srgbClr val="1F7A4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93224" y="438454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204704" y="43159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312C"/>
                </a:solidFill>
              </a:rPr>
              <a:t>Visualize and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4312C"/>
                </a:solidFill>
              </a:rPr>
              <a:t>export results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Scope of the deliverable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5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stable MVP is better than a large unfinished system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73152" cy="1828800"/>
          </a:xfrm>
          <a:prstGeom prst="rect">
            <a:avLst/>
          </a:prstGeom>
          <a:solidFill>
            <a:srgbClr val="1F7A4F"/>
          </a:solidFill>
          <a:ln w="12700">
            <a:solidFill>
              <a:srgbClr val="1F7A4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53896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51F"/>
                </a:solidFill>
              </a:rPr>
              <a:t>Included in this MVP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" y="1737360"/>
            <a:ext cx="320040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5423E"/>
                </a:solidFill>
              </a:rPr>
              <a:t>• Single asset analysis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5423E"/>
                </a:solidFill>
              </a:rPr>
              <a:t>• Historical price dataset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5423E"/>
                </a:solidFill>
              </a:rPr>
              <a:t>• Return, MA20, RSI14, volatility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5423E"/>
                </a:solidFill>
              </a:rPr>
              <a:t>• KMeans clustering with k=3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5423E"/>
                </a:solidFill>
              </a:rPr>
              <a:t>• Chart overlay + CSV export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70832" y="13258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325880"/>
            <a:ext cx="73152" cy="1828800"/>
          </a:xfrm>
          <a:prstGeom prst="rect">
            <a:avLst/>
          </a:prstGeom>
          <a:solidFill>
            <a:srgbClr val="A04B3A"/>
          </a:solidFill>
          <a:ln w="12700">
            <a:solidFill>
              <a:srgbClr val="A04B3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453896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51F"/>
                </a:solidFill>
              </a:rPr>
              <a:t>Deliberately excluded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35424" y="1737360"/>
            <a:ext cx="320040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5423E"/>
                </a:solidFill>
              </a:rPr>
              <a:t>• No live API dependency in the demo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5423E"/>
                </a:solidFill>
              </a:rPr>
              <a:t>• No price prediction model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5423E"/>
                </a:solidFill>
              </a:rPr>
              <a:t>• No web front-end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5423E"/>
                </a:solidFill>
              </a:rPr>
              <a:t>• No portfolio optimization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5423E"/>
                </a:solidFill>
              </a:rPr>
              <a:t>• No multi-asset comparison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55864" y="13258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55864" y="1325880"/>
            <a:ext cx="73152" cy="1828800"/>
          </a:xfrm>
          <a:prstGeom prst="rect">
            <a:avLst/>
          </a:prstGeom>
          <a:solidFill>
            <a:srgbClr val="E38C13"/>
          </a:solidFill>
          <a:ln w="12700">
            <a:solidFill>
              <a:srgbClr val="E38C1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0456" y="1453896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51F"/>
                </a:solidFill>
              </a:rPr>
              <a:t>Why this is presentation-ready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0456" y="1737360"/>
            <a:ext cx="320040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5423E"/>
                </a:solidFill>
              </a:rPr>
              <a:t>The notebook runs on the submitted local dataset, so the demonstration is simple, reproducible, and does not depend on classroom internet access.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3232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51F"/>
                </a:solidFill>
              </a:rPr>
              <a:t>Submission package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4069080"/>
            <a:ext cx="342900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9E3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123944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934"/>
                </a:solidFill>
              </a:rPr>
              <a:t>• RegimeLens_MVP.ipynb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507992"/>
            <a:ext cx="342900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9E3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4562856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934"/>
                </a:solidFill>
              </a:rPr>
              <a:t>• dataset.csv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946904"/>
            <a:ext cx="342900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9E3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5001768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934"/>
                </a:solidFill>
              </a:rPr>
              <a:t>• regime_results.csv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5385816"/>
            <a:ext cx="342900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9E3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5440680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934"/>
                </a:solidFill>
              </a:rPr>
              <a:t>• regime_summary.csv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17720" y="4069080"/>
            <a:ext cx="342900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9E3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27448" y="4123944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934"/>
                </a:solidFill>
              </a:rPr>
              <a:t>• RegimeLens_Final_Presentation.pptx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17720" y="4507992"/>
            <a:ext cx="342900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9E3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27448" y="4562856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934"/>
                </a:solidFill>
              </a:rPr>
              <a:t>• README.md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17720" y="4946904"/>
            <a:ext cx="342900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9E3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27448" y="5001768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934"/>
                </a:solidFill>
              </a:rPr>
              <a:t>• requirements.txt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92440" y="406908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312C"/>
                </a:solidFill>
              </a:rPr>
              <a:t>Demo script in one sentence: open the notebook, run all cells, show the regime chart and the exported CSV outputs.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and features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5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data keeps the final demo reproducible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3657600" cy="4526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08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51F"/>
                </a:solidFill>
              </a:rPr>
              <a:t>Dataset used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310896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3834"/>
                </a:solidFill>
              </a:rPr>
              <a:t>Asset: AAPL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3834"/>
                </a:solidFill>
              </a:rPr>
              <a:t>Rows: 506 daily observations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3834"/>
                </a:solidFill>
              </a:rPr>
              <a:t>Fields: Date, OHLC, Volume, Adjusted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3834"/>
                </a:solidFill>
              </a:rPr>
              <a:t>Source: Plotly public sample dataset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3834"/>
                </a:solidFill>
              </a:rPr>
              <a:t>Usage: submitted as dataset.csv with source URL included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51F"/>
                </a:solidFill>
              </a:rPr>
              <a:t>Feature set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41148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1403A"/>
                </a:solidFill>
              </a:rPr>
              <a:t>• Return: day-over-day price change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4425696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1403A"/>
                </a:solidFill>
              </a:rPr>
              <a:t>• MA20: 20-day moving average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473659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1403A"/>
                </a:solidFill>
              </a:rPr>
              <a:t>• Volatility20: annualized 20-day rolling std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96112" y="504748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1403A"/>
                </a:solidFill>
              </a:rPr>
              <a:t>• RSI14: short-term momentum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" y="535838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1403A"/>
                </a:solidFill>
              </a:rPr>
              <a:t>• Close vs MA20: distance from trend baseline</a:t>
            </a:r>
            <a:endParaRPr lang="en-US" sz="1300" dirty="0"/>
          </a:p>
        </p:txBody>
      </p:sp>
      <p:pic>
        <p:nvPicPr>
          <p:cNvPr id="13" name="Image 0" descr="/mnt/data/RegimeLens_MVP_Final/outputs/regime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480286"/>
            <a:ext cx="6858000" cy="21717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Method: simple, interpretable, and demo-friendly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5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Unsupervised clustering turns technical signals into market states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3232" y="1325880"/>
            <a:ext cx="1097280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664208"/>
            <a:ext cx="329184" cy="329184"/>
          </a:xfrm>
          <a:prstGeom prst="ellipse">
            <a:avLst/>
          </a:prstGeom>
          <a:solidFill>
            <a:srgbClr val="1F7A4F"/>
          </a:solidFill>
          <a:ln w="12700">
            <a:solidFill>
              <a:srgbClr val="1F7A4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28216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17320" y="1645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51F"/>
                </a:solidFill>
              </a:rPr>
              <a:t>Prepare 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46120" y="1636776"/>
            <a:ext cx="7726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4413C"/>
                </a:solidFill>
              </a:rPr>
              <a:t>Sort by date, remove duplicates, and keep the adjusted price as the main signal.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2322576"/>
            <a:ext cx="329184" cy="329184"/>
          </a:xfrm>
          <a:prstGeom prst="ellipse">
            <a:avLst/>
          </a:prstGeom>
          <a:solidFill>
            <a:srgbClr val="1F7A4F"/>
          </a:solidFill>
          <a:ln w="12700">
            <a:solidFill>
              <a:srgbClr val="1F7A4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386584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23042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51F"/>
                </a:solidFill>
              </a:rPr>
              <a:t>Engineer features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46120" y="2295144"/>
            <a:ext cx="7726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4413C"/>
                </a:solidFill>
              </a:rPr>
              <a:t>Create return, volatility, RSI14, MA20, and distance from MA20.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60120" y="2980944"/>
            <a:ext cx="329184" cy="329184"/>
          </a:xfrm>
          <a:prstGeom prst="ellipse">
            <a:avLst/>
          </a:prstGeom>
          <a:solidFill>
            <a:srgbClr val="1F7A4F"/>
          </a:solidFill>
          <a:ln w="12700">
            <a:solidFill>
              <a:srgbClr val="1F7A4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044952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17320" y="29626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51F"/>
                </a:solidFill>
              </a:rPr>
              <a:t>Standardize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46120" y="2953512"/>
            <a:ext cx="7726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4413C"/>
                </a:solidFill>
              </a:rPr>
              <a:t>Scale the feature matrix so KMeans is not dominated by a single variable range.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60120" y="3639312"/>
            <a:ext cx="329184" cy="329184"/>
          </a:xfrm>
          <a:prstGeom prst="ellipse">
            <a:avLst/>
          </a:prstGeom>
          <a:solidFill>
            <a:srgbClr val="1F7A4F"/>
          </a:solidFill>
          <a:ln w="12700">
            <a:solidFill>
              <a:srgbClr val="1F7A4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70332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17320" y="36210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51F"/>
                </a:solidFill>
              </a:rPr>
              <a:t>Cluster with KMeans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46120" y="3611880"/>
            <a:ext cx="7726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4413C"/>
                </a:solidFill>
              </a:rPr>
              <a:t>Use k = 3 to separate periods into three broad market states.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60120" y="4297680"/>
            <a:ext cx="329184" cy="329184"/>
          </a:xfrm>
          <a:prstGeom prst="ellipse">
            <a:avLst/>
          </a:prstGeom>
          <a:solidFill>
            <a:srgbClr val="1F7A4F"/>
          </a:solidFill>
          <a:ln w="12700">
            <a:solidFill>
              <a:srgbClr val="1F7A4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361688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17320" y="42793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51F"/>
                </a:solidFill>
              </a:rPr>
              <a:t>Interpret clusters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246120" y="4270248"/>
            <a:ext cx="7726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4413C"/>
                </a:solidFill>
              </a:rPr>
              <a:t>Compare cluster-level averages and assign human-readable regime names.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60120" y="4956048"/>
            <a:ext cx="329184" cy="329184"/>
          </a:xfrm>
          <a:prstGeom prst="ellipse">
            <a:avLst/>
          </a:prstGeom>
          <a:solidFill>
            <a:srgbClr val="1F7A4F"/>
          </a:solidFill>
          <a:ln w="12700">
            <a:solidFill>
              <a:srgbClr val="1F7A4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5020056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417320" y="4937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51F"/>
                </a:solidFill>
              </a:rPr>
              <a:t>Export outputs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246120" y="4928616"/>
            <a:ext cx="7726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4413C"/>
                </a:solidFill>
              </a:rPr>
              <a:t>Save row-level results and summary tables for the report and presentation.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result: price chart with regime overlay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5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chart is the clearest MVP artifact because it makes the clusters visible</a:t>
            </a:r>
            <a:endParaRPr lang="en-US" sz="1100" dirty="0"/>
          </a:p>
        </p:txBody>
      </p:sp>
      <p:pic>
        <p:nvPicPr>
          <p:cNvPr id="4" name="Image 0" descr="/mnt/data/RegimeLens_MVP_Final/outputs/regime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838722"/>
            <a:ext cx="7818120" cy="38663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32520" y="141732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417320"/>
            <a:ext cx="73152" cy="1325880"/>
          </a:xfrm>
          <a:prstGeom prst="rect">
            <a:avLst/>
          </a:prstGeom>
          <a:solidFill>
            <a:srgbClr val="2F8C5B"/>
          </a:solidFill>
          <a:ln w="12700">
            <a:solidFill>
              <a:srgbClr val="2F8C5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97112" y="1545336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51F"/>
                </a:solidFill>
              </a:rPr>
              <a:t>Bullish Trend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897112" y="1828800"/>
            <a:ext cx="22860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5423E"/>
                </a:solidFill>
              </a:rPr>
              <a:t>Positive average return, stronger RSI, and price mostly above MA20.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732520" y="292608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32520" y="2926080"/>
            <a:ext cx="73152" cy="1325880"/>
          </a:xfrm>
          <a:prstGeom prst="rect">
            <a:avLst/>
          </a:prstGeom>
          <a:solidFill>
            <a:srgbClr val="C84D44"/>
          </a:solidFill>
          <a:ln w="12700">
            <a:solidFill>
              <a:srgbClr val="C84D44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97112" y="3054096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51F"/>
                </a:solidFill>
              </a:rPr>
              <a:t>Weak / Bearish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897112" y="3337560"/>
            <a:ext cx="22860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5423E"/>
                </a:solidFill>
              </a:rPr>
              <a:t>Softer returns and weaker price position relative to the 20-day average.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732520" y="443484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732520" y="4434840"/>
            <a:ext cx="73152" cy="1325880"/>
          </a:xfrm>
          <a:prstGeom prst="rect">
            <a:avLst/>
          </a:prstGeom>
          <a:solidFill>
            <a:srgbClr val="E38C13"/>
          </a:solidFill>
          <a:ln w="12700">
            <a:solidFill>
              <a:srgbClr val="E38C1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97112" y="4562856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51F"/>
                </a:solidFill>
              </a:rPr>
              <a:t>Volatile Transition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897112" y="4846320"/>
            <a:ext cx="22860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5423E"/>
                </a:solidFill>
              </a:rPr>
              <a:t>Highest volatility regime; useful for signaling unstable periods or shifts.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Interpretation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5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 statistics are translated into plain-language regime labels</a:t>
            </a:r>
            <a:endParaRPr lang="en-US" sz="1100" dirty="0"/>
          </a:p>
        </p:txBody>
      </p:sp>
      <p:pic>
        <p:nvPicPr>
          <p:cNvPr id="4" name="Image 0" descr="/mnt/data/RegimeLens_MVP_Final/outputs/regime_cou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15623"/>
            <a:ext cx="3749040" cy="184367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54880" y="1325880"/>
            <a:ext cx="2148840" cy="24231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54880" y="1325880"/>
            <a:ext cx="73152" cy="2423160"/>
          </a:xfrm>
          <a:prstGeom prst="rect">
            <a:avLst/>
          </a:prstGeom>
          <a:solidFill>
            <a:srgbClr val="2F8C5B"/>
          </a:solidFill>
          <a:ln w="12700">
            <a:solidFill>
              <a:srgbClr val="2F8C5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19472" y="1453896"/>
            <a:ext cx="1892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51F"/>
                </a:solidFill>
              </a:rPr>
              <a:t>Bullish Trend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919472" y="1737360"/>
            <a:ext cx="187452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5423E"/>
                </a:solidFill>
              </a:rPr>
              <a:t>The model groups many green periods where returns are positive and momentum is healthier. This is the regime most consistent with sustained upside movement.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059168" y="1325880"/>
            <a:ext cx="2148840" cy="24231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59168" y="1325880"/>
            <a:ext cx="73152" cy="2423160"/>
          </a:xfrm>
          <a:prstGeom prst="rect">
            <a:avLst/>
          </a:prstGeom>
          <a:solidFill>
            <a:srgbClr val="C84D44"/>
          </a:solidFill>
          <a:ln w="12700">
            <a:solidFill>
              <a:srgbClr val="C84D44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23760" y="1453896"/>
            <a:ext cx="1892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51F"/>
                </a:solidFill>
              </a:rPr>
              <a:t>Weak / Bearish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223760" y="1737360"/>
            <a:ext cx="187452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5423E"/>
                </a:solidFill>
              </a:rPr>
              <a:t>The red cluster collects days with weaker performance and lower relative price levels. It can help a user recognize softer market phases quickly.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363456" y="1325880"/>
            <a:ext cx="2148840" cy="24231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363456" y="1325880"/>
            <a:ext cx="73152" cy="2423160"/>
          </a:xfrm>
          <a:prstGeom prst="rect">
            <a:avLst/>
          </a:prstGeom>
          <a:solidFill>
            <a:srgbClr val="E38C13"/>
          </a:solidFill>
          <a:ln w="12700">
            <a:solidFill>
              <a:srgbClr val="E38C1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528048" y="1453896"/>
            <a:ext cx="1892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51F"/>
                </a:solidFill>
              </a:rPr>
              <a:t>Volatile Transition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528048" y="1737360"/>
            <a:ext cx="187452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5423E"/>
                </a:solidFill>
              </a:rPr>
              <a:t>The orange cluster is smaller but important. It highlights periods where volatility spikes and the market appears less stable.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1520" y="4160520"/>
            <a:ext cx="107899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43891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51F"/>
                </a:solidFill>
              </a:rPr>
              <a:t>Practical interpretation for the demo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063240" y="4325112"/>
            <a:ext cx="7452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03B"/>
                </a:solidFill>
              </a:rPr>
              <a:t>A user does not need to understand the clustering math to benefit from the output. The colored chart plus short explanation already answers the core product question: “What kind of market state is this asset in?”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06599-4C29-F2D6-8D65-F05F803ED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8FB4448-14B5-F14F-5126-519D0A0EEA0F}"/>
              </a:ext>
            </a:extLst>
          </p:cNvPr>
          <p:cNvSpPr/>
          <p:nvPr/>
        </p:nvSpPr>
        <p:spPr>
          <a:xfrm>
            <a:off x="594360" y="960120"/>
            <a:ext cx="10972800" cy="5074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BE5DD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DBE329B-7BF9-DA10-5B37-0431B88C0FC3}"/>
              </a:ext>
            </a:extLst>
          </p:cNvPr>
          <p:cNvSpPr/>
          <p:nvPr/>
        </p:nvSpPr>
        <p:spPr>
          <a:xfrm>
            <a:off x="934329" y="2163720"/>
            <a:ext cx="10060382" cy="2834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00">
                <a:solidFill>
                  <a:srgbClr val="3C4944"/>
                </a:solidFill>
                <a:latin typeface="Aptos"/>
              </a:rPr>
              <a:t>        Thank </a:t>
            </a:r>
            <a:r>
              <a:rPr lang="en-US" sz="9600" dirty="0">
                <a:solidFill>
                  <a:srgbClr val="3C4944"/>
                </a:solidFill>
                <a:latin typeface="Aptos"/>
              </a:rPr>
              <a:t>You!</a:t>
            </a:r>
            <a:endParaRPr lang="zh-CN" altLang="en-US" sz="9600" dirty="0">
              <a:ea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3512071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8</Slides>
  <Notes>8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9" baseType="lpstr"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RegimeLens MVP Final Presentation</dc:title>
  <dc:subject>RegimeLens MVP</dc:subject>
  <dc:creator>OpenAI</dc:creator>
  <cp:lastModifiedBy>OpenAI</cp:lastModifiedBy>
  <cp:revision>46</cp:revision>
  <dcterms:created xsi:type="dcterms:W3CDTF">2026-04-07T03:40:46Z</dcterms:created>
  <dcterms:modified xsi:type="dcterms:W3CDTF">2026-04-07T04:16:24Z</dcterms:modified>
</cp:coreProperties>
</file>